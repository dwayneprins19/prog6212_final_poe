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1C35-B3D2-10D3-03BE-A50850EAC2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684FE11F-4CDE-1788-9BA3-784DB347AC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1069579-A85D-5F05-6FBF-70E45DA1E46E}"/>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5" name="Footer Placeholder 4">
            <a:extLst>
              <a:ext uri="{FF2B5EF4-FFF2-40B4-BE49-F238E27FC236}">
                <a16:creationId xmlns:a16="http://schemas.microsoft.com/office/drawing/2014/main" id="{D1F16DE5-1536-877A-FBCF-BC570BA97E7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60A8340-447A-32ED-E2A2-BCCFD2B71452}"/>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1577939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D4E08-AD7E-0B45-3E48-000934B0776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5E98267-4588-F347-F96A-58020001D3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03DC940-398B-9913-00AA-6CAA265CDEF9}"/>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5" name="Footer Placeholder 4">
            <a:extLst>
              <a:ext uri="{FF2B5EF4-FFF2-40B4-BE49-F238E27FC236}">
                <a16:creationId xmlns:a16="http://schemas.microsoft.com/office/drawing/2014/main" id="{3BAC80DA-3641-F97B-BE34-7F6F80D8CCE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E0B91FE-15A8-0EF8-71CC-8046BB838D9E}"/>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84322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3C33B-AF17-25DD-418C-360B4843FD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0607F4A9-8FBF-5633-DC1A-0BEC82CB1B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E48FF-94FA-C5B5-39C3-354531A8C68E}"/>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5" name="Footer Placeholder 4">
            <a:extLst>
              <a:ext uri="{FF2B5EF4-FFF2-40B4-BE49-F238E27FC236}">
                <a16:creationId xmlns:a16="http://schemas.microsoft.com/office/drawing/2014/main" id="{FA444510-6C2B-E2A0-60AA-B272A115682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67AE218-0233-C5CC-D1E2-A414D833AED5}"/>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2839797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A4815-F1F5-F517-5000-41474FF6EC2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41BA1B85-0D83-7579-EB4B-324D2DAA84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EC84B4CD-E028-7E75-894B-614143E680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2DFD4812-22F7-BF73-D0F6-4C86EE7FF519}"/>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6" name="Footer Placeholder 5">
            <a:extLst>
              <a:ext uri="{FF2B5EF4-FFF2-40B4-BE49-F238E27FC236}">
                <a16:creationId xmlns:a16="http://schemas.microsoft.com/office/drawing/2014/main" id="{BCDEEF7D-2827-3522-DB62-7763B33CAAD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32DDD91D-F976-2074-CA01-A138FF509B73}"/>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3430130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A9311-D36E-EC1C-1E9D-475E4C737DFC}"/>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B6F7A45-7018-24D2-A0DF-2DCCA0C5CE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C5D19C-6E7F-ADEA-B9A2-33782D9AE2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9A2B6C85-20D9-1A1E-50EB-17FB4055CF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72E578-549C-E020-CB23-B460D6821B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217FBD61-E671-5AB5-3285-2CF545ECF167}"/>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8" name="Footer Placeholder 7">
            <a:extLst>
              <a:ext uri="{FF2B5EF4-FFF2-40B4-BE49-F238E27FC236}">
                <a16:creationId xmlns:a16="http://schemas.microsoft.com/office/drawing/2014/main" id="{D80FFE37-4E01-925E-3607-562D36B2B5CF}"/>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4D065A6C-1861-F91E-6AAF-513764FD54BB}"/>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2809107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AF42D-52FA-E494-E920-56971AE2A163}"/>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2BA640FB-527A-CB18-FC40-B8148DB144CB}"/>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4" name="Footer Placeholder 3">
            <a:extLst>
              <a:ext uri="{FF2B5EF4-FFF2-40B4-BE49-F238E27FC236}">
                <a16:creationId xmlns:a16="http://schemas.microsoft.com/office/drawing/2014/main" id="{7826C47D-370A-888C-7411-32CEBC7ABE5B}"/>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E0410CF9-2C76-C0C3-5AA2-0AF381AF11D9}"/>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926080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C4A0CD-2483-DE80-6727-3EA569CA41BB}"/>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3" name="Footer Placeholder 2">
            <a:extLst>
              <a:ext uri="{FF2B5EF4-FFF2-40B4-BE49-F238E27FC236}">
                <a16:creationId xmlns:a16="http://schemas.microsoft.com/office/drawing/2014/main" id="{55D6C268-1208-68B2-EC5C-8B18EF6FA1DE}"/>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261E6D09-EB73-C519-6B41-5FA03B9502FD}"/>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3797279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0540A-523D-8408-8182-9EDCC038A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663EC265-0095-1643-D1E5-AD07FA8310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C756E849-B6A6-AE21-C9AE-1E1B384AB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10D11D-7933-2FE7-4B55-688DB00257DA}"/>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6" name="Footer Placeholder 5">
            <a:extLst>
              <a:ext uri="{FF2B5EF4-FFF2-40B4-BE49-F238E27FC236}">
                <a16:creationId xmlns:a16="http://schemas.microsoft.com/office/drawing/2014/main" id="{93D5D182-231B-6B14-5248-42EEB36670B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E04EC13-63EE-DF9B-2941-94B6E8BAA587}"/>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2595728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BD63-2274-E3DF-C1B1-29B15F7D20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C99BC9C7-41A2-D0B4-F0D3-1143CEBB9F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A5EA574F-5750-6BA5-B00C-B91804B75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830757-F884-310A-F23D-FB455C2605CA}"/>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6" name="Footer Placeholder 5">
            <a:extLst>
              <a:ext uri="{FF2B5EF4-FFF2-40B4-BE49-F238E27FC236}">
                <a16:creationId xmlns:a16="http://schemas.microsoft.com/office/drawing/2014/main" id="{D4428D70-850C-DEEE-58E8-4A2CC765D05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600FA43-EAA3-139E-0953-88052E081085}"/>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4184071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E9F9-DA72-DD7E-BD3A-693BF71B9B2C}"/>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8F299849-295B-1DEB-0779-080872D506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7703EFB-E254-B4C5-5266-6A1F178EB28D}"/>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5" name="Footer Placeholder 4">
            <a:extLst>
              <a:ext uri="{FF2B5EF4-FFF2-40B4-BE49-F238E27FC236}">
                <a16:creationId xmlns:a16="http://schemas.microsoft.com/office/drawing/2014/main" id="{620918B6-B5E0-5F7E-0F99-5A67B24D1E7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8531EB-A5E6-45EE-5D40-4297B37CF9C8}"/>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3449727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028DFF-BDE4-EA63-F8AE-32FF174349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0BB9DB3-CB3E-F4B3-E2BE-4061A0FBC8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23E65F0-0878-4E24-2938-E5D3D15E723D}"/>
              </a:ext>
            </a:extLst>
          </p:cNvPr>
          <p:cNvSpPr>
            <a:spLocks noGrp="1"/>
          </p:cNvSpPr>
          <p:nvPr>
            <p:ph type="dt" sz="half" idx="10"/>
          </p:nvPr>
        </p:nvSpPr>
        <p:spPr/>
        <p:txBody>
          <a:bodyPr/>
          <a:lstStyle/>
          <a:p>
            <a:fld id="{B06EDC76-D229-4FE6-B025-01A9E14F74CB}" type="datetimeFigureOut">
              <a:rPr lang="en-ZA" smtClean="0"/>
              <a:t>2026/01/12</a:t>
            </a:fld>
            <a:endParaRPr lang="en-ZA"/>
          </a:p>
        </p:txBody>
      </p:sp>
      <p:sp>
        <p:nvSpPr>
          <p:cNvPr id="5" name="Footer Placeholder 4">
            <a:extLst>
              <a:ext uri="{FF2B5EF4-FFF2-40B4-BE49-F238E27FC236}">
                <a16:creationId xmlns:a16="http://schemas.microsoft.com/office/drawing/2014/main" id="{25C83180-DCD2-8477-F5CB-D9D29F74DDC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DA8A6AA-E0CC-2EC3-0B4D-59CC2D1BC592}"/>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289910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98F22C-C853-073C-9DE6-08B82E9DB8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FC000F2-62A9-0885-EA47-FBD9E7040B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36E01B9-9112-7E1E-5123-032C03AC84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6EDC76-D229-4FE6-B025-01A9E14F74CB}" type="datetimeFigureOut">
              <a:rPr lang="en-ZA" smtClean="0"/>
              <a:t>2026/01/12</a:t>
            </a:fld>
            <a:endParaRPr lang="en-ZA"/>
          </a:p>
        </p:txBody>
      </p:sp>
      <p:sp>
        <p:nvSpPr>
          <p:cNvPr id="5" name="Footer Placeholder 4">
            <a:extLst>
              <a:ext uri="{FF2B5EF4-FFF2-40B4-BE49-F238E27FC236}">
                <a16:creationId xmlns:a16="http://schemas.microsoft.com/office/drawing/2014/main" id="{5B7EE569-1298-A3A8-03AD-E41341A945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E228A667-4292-C023-BAC9-0634EB2C52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D1ADE2-4DC7-4B89-AC5B-A454F5164E74}" type="slidenum">
              <a:rPr lang="en-ZA" smtClean="0"/>
              <a:t>‹#›</a:t>
            </a:fld>
            <a:endParaRPr lang="en-ZA"/>
          </a:p>
        </p:txBody>
      </p:sp>
    </p:spTree>
    <p:extLst>
      <p:ext uri="{BB962C8B-B14F-4D97-AF65-F5344CB8AC3E}">
        <p14:creationId xmlns:p14="http://schemas.microsoft.com/office/powerpoint/2010/main" val="1069900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29" name="Group 28">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30" name="Freeform: Shape 29">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Freeform: Shape 30">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35F07DD-350E-9ED5-2890-EE69E652B782}"/>
              </a:ext>
            </a:extLst>
          </p:cNvPr>
          <p:cNvSpPr>
            <a:spLocks noGrp="1"/>
          </p:cNvSpPr>
          <p:nvPr>
            <p:ph type="ctrTitle"/>
          </p:nvPr>
        </p:nvSpPr>
        <p:spPr>
          <a:xfrm>
            <a:off x="3045368" y="2043663"/>
            <a:ext cx="6105194" cy="2031055"/>
          </a:xfrm>
        </p:spPr>
        <p:txBody>
          <a:bodyPr>
            <a:normAutofit/>
          </a:bodyPr>
          <a:lstStyle/>
          <a:p>
            <a:r>
              <a:rPr lang="en-ZA" sz="5200">
                <a:solidFill>
                  <a:schemeClr val="tx2"/>
                </a:solidFill>
              </a:rPr>
              <a:t>ST10032544</a:t>
            </a:r>
          </a:p>
        </p:txBody>
      </p:sp>
      <p:sp>
        <p:nvSpPr>
          <p:cNvPr id="3" name="Subtitle 2">
            <a:extLst>
              <a:ext uri="{FF2B5EF4-FFF2-40B4-BE49-F238E27FC236}">
                <a16:creationId xmlns:a16="http://schemas.microsoft.com/office/drawing/2014/main" id="{6F520A62-191F-C49C-26AA-2BD946EFE427}"/>
              </a:ext>
            </a:extLst>
          </p:cNvPr>
          <p:cNvSpPr>
            <a:spLocks noGrp="1"/>
          </p:cNvSpPr>
          <p:nvPr>
            <p:ph type="subTitle" idx="1"/>
          </p:nvPr>
        </p:nvSpPr>
        <p:spPr>
          <a:xfrm>
            <a:off x="3045368" y="4160126"/>
            <a:ext cx="6105194" cy="682079"/>
          </a:xfrm>
        </p:spPr>
        <p:txBody>
          <a:bodyPr>
            <a:normAutofit/>
          </a:bodyPr>
          <a:lstStyle/>
          <a:p>
            <a:r>
              <a:rPr lang="en-ZA" dirty="0">
                <a:solidFill>
                  <a:schemeClr val="tx2"/>
                </a:solidFill>
              </a:rPr>
              <a:t>PROG6212 Final POE Resubmission</a:t>
            </a:r>
          </a:p>
        </p:txBody>
      </p:sp>
    </p:spTree>
    <p:extLst>
      <p:ext uri="{BB962C8B-B14F-4D97-AF65-F5344CB8AC3E}">
        <p14:creationId xmlns:p14="http://schemas.microsoft.com/office/powerpoint/2010/main" val="2669763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343F0CCB-D65C-4DF8-A47A-2413F48EEDE3}"/>
              </a:ext>
            </a:extLst>
          </p:cNvPr>
          <p:cNvSpPr>
            <a:spLocks noGrp="1"/>
          </p:cNvSpPr>
          <p:nvPr>
            <p:ph type="ctrTitle"/>
          </p:nvPr>
        </p:nvSpPr>
        <p:spPr>
          <a:xfrm>
            <a:off x="2726279" y="1741337"/>
            <a:ext cx="6739136" cy="2387918"/>
          </a:xfrm>
        </p:spPr>
        <p:txBody>
          <a:bodyPr anchor="b">
            <a:normAutofit/>
          </a:bodyPr>
          <a:lstStyle/>
          <a:p>
            <a:r>
              <a:rPr lang="en-ZA" sz="5200">
                <a:solidFill>
                  <a:schemeClr val="tx2"/>
                </a:solidFill>
              </a:rPr>
              <a:t>Contract Monthly Claim System</a:t>
            </a:r>
          </a:p>
        </p:txBody>
      </p:sp>
      <p:grpSp>
        <p:nvGrpSpPr>
          <p:cNvPr id="51" name="Group 50">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52" name="Freeform: Shape 51">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58" name="Freeform: Shape 57">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Shape 58">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Shape 59">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1" name="Freeform: Shape 60">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421071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557C36B6-8346-CF31-A817-E1287082DC22}"/>
              </a:ext>
            </a:extLst>
          </p:cNvPr>
          <p:cNvSpPr>
            <a:spLocks noGrp="1"/>
          </p:cNvSpPr>
          <p:nvPr>
            <p:ph type="title"/>
          </p:nvPr>
        </p:nvSpPr>
        <p:spPr>
          <a:xfrm>
            <a:off x="1179226" y="1594707"/>
            <a:ext cx="9833548" cy="1325563"/>
          </a:xfrm>
        </p:spPr>
        <p:txBody>
          <a:bodyPr anchor="b">
            <a:normAutofit/>
          </a:bodyPr>
          <a:lstStyle/>
          <a:p>
            <a:pPr algn="ctr"/>
            <a:r>
              <a:rPr lang="en-ZA" sz="3600">
                <a:solidFill>
                  <a:schemeClr val="tx2"/>
                </a:solidFill>
              </a:rPr>
              <a:t>Contents</a:t>
            </a:r>
          </a:p>
        </p:txBody>
      </p:sp>
      <p:grpSp>
        <p:nvGrpSpPr>
          <p:cNvPr id="27" name="Group 26">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28" name="Freeform: Shape 27">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D63D8DC-2C4A-FA11-8A2E-043585061C3E}"/>
              </a:ext>
            </a:extLst>
          </p:cNvPr>
          <p:cNvSpPr>
            <a:spLocks noGrp="1"/>
          </p:cNvSpPr>
          <p:nvPr>
            <p:ph idx="1"/>
          </p:nvPr>
        </p:nvSpPr>
        <p:spPr>
          <a:xfrm>
            <a:off x="1179226" y="3329677"/>
            <a:ext cx="9833548" cy="2457269"/>
          </a:xfrm>
        </p:spPr>
        <p:txBody>
          <a:bodyPr>
            <a:normAutofit/>
          </a:bodyPr>
          <a:lstStyle/>
          <a:p>
            <a:r>
              <a:rPr lang="en-ZA" sz="1800">
                <a:solidFill>
                  <a:schemeClr val="tx2"/>
                </a:solidFill>
              </a:rPr>
              <a:t>Home Page/Submit Page</a:t>
            </a:r>
          </a:p>
          <a:p>
            <a:r>
              <a:rPr lang="en-ZA" sz="1800">
                <a:solidFill>
                  <a:schemeClr val="tx2"/>
                </a:solidFill>
              </a:rPr>
              <a:t>Verify Page</a:t>
            </a:r>
          </a:p>
          <a:p>
            <a:r>
              <a:rPr lang="en-ZA" sz="1800">
                <a:solidFill>
                  <a:schemeClr val="tx2"/>
                </a:solidFill>
              </a:rPr>
              <a:t>Approve Page</a:t>
            </a:r>
          </a:p>
          <a:p>
            <a:r>
              <a:rPr lang="en-ZA" sz="1800">
                <a:solidFill>
                  <a:schemeClr val="tx2"/>
                </a:solidFill>
              </a:rPr>
              <a:t>Track Page</a:t>
            </a:r>
          </a:p>
        </p:txBody>
      </p:sp>
      <p:grpSp>
        <p:nvGrpSpPr>
          <p:cNvPr id="33" name="Group 32">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34" name="Freeform: Shape 33">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85117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252234-1ED3-6C6E-26BF-5CAC5030BB56}"/>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dirty="0">
                <a:solidFill>
                  <a:schemeClr val="tx2"/>
                </a:solidFill>
                <a:latin typeface="+mj-lt"/>
                <a:ea typeface="+mj-ea"/>
                <a:cs typeface="+mj-cs"/>
              </a:rPr>
              <a:t>Submit Page</a:t>
            </a:r>
          </a:p>
        </p:txBody>
      </p:sp>
      <p:sp>
        <p:nvSpPr>
          <p:cNvPr id="4" name="Text Placeholder 3">
            <a:extLst>
              <a:ext uri="{FF2B5EF4-FFF2-40B4-BE49-F238E27FC236}">
                <a16:creationId xmlns:a16="http://schemas.microsoft.com/office/drawing/2014/main" id="{3CD1BDA0-7D9F-2B23-2E2D-829E1DA89CB5}"/>
              </a:ext>
            </a:extLst>
          </p:cNvPr>
          <p:cNvSpPr>
            <a:spLocks noGrp="1"/>
          </p:cNvSpPr>
          <p:nvPr>
            <p:ph type="body" sz="half" idx="2"/>
          </p:nvPr>
        </p:nvSpPr>
        <p:spPr>
          <a:xfrm>
            <a:off x="804672" y="2421683"/>
            <a:ext cx="4765949" cy="3353476"/>
          </a:xfrm>
        </p:spPr>
        <p:txBody>
          <a:bodyPr vert="horz" lIns="91440" tIns="45720" rIns="91440" bIns="45720" rtlCol="0" anchor="t">
            <a:normAutofit/>
          </a:bodyPr>
          <a:lstStyle/>
          <a:p>
            <a:pPr indent="-228600">
              <a:buFont typeface="Arial" panose="020B0604020202020204" pitchFamily="34" charset="0"/>
              <a:buChar char="•"/>
            </a:pPr>
            <a:r>
              <a:rPr lang="en-US" sz="1800" dirty="0">
                <a:solidFill>
                  <a:schemeClr val="tx2"/>
                </a:solidFill>
              </a:rPr>
              <a:t>The submission page.</a:t>
            </a:r>
          </a:p>
          <a:p>
            <a:pPr indent="-228600">
              <a:buFont typeface="Arial" panose="020B0604020202020204" pitchFamily="34" charset="0"/>
              <a:buChar char="•"/>
            </a:pPr>
            <a:r>
              <a:rPr lang="en-US" sz="1800" dirty="0">
                <a:solidFill>
                  <a:schemeClr val="tx2"/>
                </a:solidFill>
              </a:rPr>
              <a:t>This is the page where the lecturers submit their claims and seen with the image provide on the right. Its is a very simple process as you enter your details and each provided block has to the be filled in with the proper information requested. If that is not done the page will notify you as you have an incomplete area. Thus, not allowing you to proceed. Once your claim is submitted successfully you will then receive a notification telling you that the claim has been completed successfully.</a:t>
            </a:r>
          </a:p>
        </p:txBody>
      </p:sp>
      <p:grpSp>
        <p:nvGrpSpPr>
          <p:cNvPr id="28" name="Group 27">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9" name="Freeform: Shape 28">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Placeholder 5" descr="A screenshot of a computer&#10;&#10;AI-generated content may be incorrect.">
            <a:extLst>
              <a:ext uri="{FF2B5EF4-FFF2-40B4-BE49-F238E27FC236}">
                <a16:creationId xmlns:a16="http://schemas.microsoft.com/office/drawing/2014/main" id="{1834DC82-53B8-DD74-2587-A2F1ED338BC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r="10535"/>
          <a:stretch>
            <a:fillRect/>
          </a:stretch>
        </p:blipFill>
        <p:spPr>
          <a:xfrm>
            <a:off x="7708392" y="2773783"/>
            <a:ext cx="4142232" cy="2233977"/>
          </a:xfrm>
          <a:prstGeom prst="rect">
            <a:avLst/>
          </a:prstGeom>
        </p:spPr>
      </p:pic>
    </p:spTree>
    <p:extLst>
      <p:ext uri="{BB962C8B-B14F-4D97-AF65-F5344CB8AC3E}">
        <p14:creationId xmlns:p14="http://schemas.microsoft.com/office/powerpoint/2010/main" val="3677398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63F662-CB84-CE1D-F83F-579EF68A013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C721CF-B859-2D81-2C5E-540CD497AF82}"/>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a:solidFill>
                  <a:schemeClr val="tx2"/>
                </a:solidFill>
                <a:latin typeface="+mj-lt"/>
                <a:ea typeface="+mj-ea"/>
                <a:cs typeface="+mj-cs"/>
              </a:rPr>
              <a:t>Approve and Reject Page</a:t>
            </a:r>
          </a:p>
        </p:txBody>
      </p:sp>
      <p:sp>
        <p:nvSpPr>
          <p:cNvPr id="4" name="Text Placeholder 3">
            <a:extLst>
              <a:ext uri="{FF2B5EF4-FFF2-40B4-BE49-F238E27FC236}">
                <a16:creationId xmlns:a16="http://schemas.microsoft.com/office/drawing/2014/main" id="{27BC40A5-EC71-8F8D-E28F-CAF02F2FEAE0}"/>
              </a:ext>
            </a:extLst>
          </p:cNvPr>
          <p:cNvSpPr>
            <a:spLocks noGrp="1"/>
          </p:cNvSpPr>
          <p:nvPr>
            <p:ph type="body" sz="half" idx="2"/>
          </p:nvPr>
        </p:nvSpPr>
        <p:spPr>
          <a:xfrm>
            <a:off x="804672" y="2421683"/>
            <a:ext cx="4765949" cy="3353476"/>
          </a:xfrm>
        </p:spPr>
        <p:txBody>
          <a:bodyPr vert="horz" lIns="91440" tIns="45720" rIns="91440" bIns="45720" rtlCol="0" anchor="t">
            <a:normAutofit/>
          </a:bodyPr>
          <a:lstStyle/>
          <a:p>
            <a:pPr indent="-228600">
              <a:buFont typeface="Arial" panose="020B0604020202020204" pitchFamily="34" charset="0"/>
              <a:buChar char="•"/>
            </a:pPr>
            <a:r>
              <a:rPr lang="en-US" sz="1800" dirty="0"/>
              <a:t>The Approve Page</a:t>
            </a:r>
          </a:p>
          <a:p>
            <a:pPr indent="-228600">
              <a:buFont typeface="Arial" panose="020B0604020202020204" pitchFamily="34" charset="0"/>
              <a:buChar char="•"/>
            </a:pPr>
            <a:r>
              <a:rPr lang="en-US" sz="1800" dirty="0"/>
              <a:t>This is the decision-making hub. After verification, the academic manager or HR team uses this page to approve or reject claims. It’s where final judgments happen. Approved claims move on to processing and eventual payment, while rejected claims are sent back with feedback. This page keeps the process smooth, organized, and accountable, ensuring that no claim is lost or overlooked.</a:t>
            </a:r>
            <a:endParaRPr lang="en-US" sz="1800" dirty="0">
              <a:solidFill>
                <a:schemeClr val="tx2"/>
              </a:solidFill>
            </a:endParaRPr>
          </a:p>
        </p:txBody>
      </p:sp>
      <p:grpSp>
        <p:nvGrpSpPr>
          <p:cNvPr id="17" name="Group 16">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8" name="Freeform: Shape 17">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Placeholder 7" descr="A screenshot of a computer&#10;&#10;AI-generated content may be incorrect.">
            <a:extLst>
              <a:ext uri="{FF2B5EF4-FFF2-40B4-BE49-F238E27FC236}">
                <a16:creationId xmlns:a16="http://schemas.microsoft.com/office/drawing/2014/main" id="{14B30297-5028-854C-A1D8-FE69271D493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24" r="8076"/>
          <a:stretch>
            <a:fillRect/>
          </a:stretch>
        </p:blipFill>
        <p:spPr>
          <a:xfrm>
            <a:off x="7708392" y="2805128"/>
            <a:ext cx="4142232" cy="2171288"/>
          </a:xfrm>
          <a:prstGeom prst="rect">
            <a:avLst/>
          </a:prstGeom>
        </p:spPr>
      </p:pic>
    </p:spTree>
    <p:extLst>
      <p:ext uri="{BB962C8B-B14F-4D97-AF65-F5344CB8AC3E}">
        <p14:creationId xmlns:p14="http://schemas.microsoft.com/office/powerpoint/2010/main" val="377315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8E5F28-A289-D07E-4DED-504263BF2EB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703F9E-3210-39E7-0FEC-2A28B6A9A0B2}"/>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a:solidFill>
                  <a:schemeClr val="tx2"/>
                </a:solidFill>
                <a:latin typeface="+mj-lt"/>
                <a:ea typeface="+mj-ea"/>
                <a:cs typeface="+mj-cs"/>
              </a:rPr>
              <a:t>Verify Page</a:t>
            </a:r>
          </a:p>
        </p:txBody>
      </p:sp>
      <p:sp>
        <p:nvSpPr>
          <p:cNvPr id="4" name="Text Placeholder 3">
            <a:extLst>
              <a:ext uri="{FF2B5EF4-FFF2-40B4-BE49-F238E27FC236}">
                <a16:creationId xmlns:a16="http://schemas.microsoft.com/office/drawing/2014/main" id="{9C92E7B3-0BB5-4FEE-2F49-DADF69617B92}"/>
              </a:ext>
            </a:extLst>
          </p:cNvPr>
          <p:cNvSpPr>
            <a:spLocks noGrp="1"/>
          </p:cNvSpPr>
          <p:nvPr>
            <p:ph type="body" sz="half" idx="2"/>
          </p:nvPr>
        </p:nvSpPr>
        <p:spPr>
          <a:xfrm>
            <a:off x="804672" y="2421683"/>
            <a:ext cx="4765949" cy="3353476"/>
          </a:xfrm>
        </p:spPr>
        <p:txBody>
          <a:bodyPr vert="horz" lIns="91440" tIns="45720" rIns="91440" bIns="45720" rtlCol="0" anchor="t">
            <a:normAutofit/>
          </a:bodyPr>
          <a:lstStyle/>
          <a:p>
            <a:pPr indent="-228600">
              <a:buFont typeface="Arial" panose="020B0604020202020204" pitchFamily="34" charset="0"/>
              <a:buChar char="•"/>
            </a:pPr>
            <a:r>
              <a:rPr lang="en-US" sz="1800" dirty="0"/>
              <a:t>The Verify Page</a:t>
            </a:r>
          </a:p>
          <a:p>
            <a:pPr indent="-228600">
              <a:buFont typeface="Arial" panose="020B0604020202020204" pitchFamily="34" charset="0"/>
              <a:buChar char="•"/>
            </a:pPr>
            <a:r>
              <a:rPr lang="en-US" sz="1800" dirty="0"/>
              <a:t>This is the workspace of the coordinator or academic manager. This is where they review claims that have been submitted. This allows for them to properly assess the documents and information provided before verifying or rejecting the claims.</a:t>
            </a:r>
            <a:endParaRPr lang="en-US" sz="1800" dirty="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screenshot of a computer&#10;&#10;AI-generated content may be incorrect.">
            <a:extLst>
              <a:ext uri="{FF2B5EF4-FFF2-40B4-BE49-F238E27FC236}">
                <a16:creationId xmlns:a16="http://schemas.microsoft.com/office/drawing/2014/main" id="{D98CA960-CB14-1DA8-7280-F7F77BB0A6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8392" y="2886281"/>
            <a:ext cx="4142232" cy="2008982"/>
          </a:xfrm>
          <a:prstGeom prst="rect">
            <a:avLst/>
          </a:prstGeom>
        </p:spPr>
      </p:pic>
    </p:spTree>
    <p:extLst>
      <p:ext uri="{BB962C8B-B14F-4D97-AF65-F5344CB8AC3E}">
        <p14:creationId xmlns:p14="http://schemas.microsoft.com/office/powerpoint/2010/main" val="2370351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0A3223-E0C3-D9EB-0CA4-3729A2C8D45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1CF0BC-C148-C471-A8AC-3F882F6F20D9}"/>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a:solidFill>
                  <a:schemeClr val="tx2"/>
                </a:solidFill>
                <a:latin typeface="+mj-lt"/>
                <a:ea typeface="+mj-ea"/>
                <a:cs typeface="+mj-cs"/>
              </a:rPr>
              <a:t>Track Page</a:t>
            </a:r>
          </a:p>
        </p:txBody>
      </p:sp>
      <p:sp>
        <p:nvSpPr>
          <p:cNvPr id="4" name="Text Placeholder 3">
            <a:extLst>
              <a:ext uri="{FF2B5EF4-FFF2-40B4-BE49-F238E27FC236}">
                <a16:creationId xmlns:a16="http://schemas.microsoft.com/office/drawing/2014/main" id="{9B96EC75-6AE8-30B7-306C-02D3F52FCE9F}"/>
              </a:ext>
            </a:extLst>
          </p:cNvPr>
          <p:cNvSpPr>
            <a:spLocks noGrp="1"/>
          </p:cNvSpPr>
          <p:nvPr>
            <p:ph type="body" sz="half" idx="2"/>
          </p:nvPr>
        </p:nvSpPr>
        <p:spPr>
          <a:xfrm>
            <a:off x="804672" y="2421683"/>
            <a:ext cx="4765949" cy="3353476"/>
          </a:xfrm>
        </p:spPr>
        <p:txBody>
          <a:bodyPr vert="horz" lIns="91440" tIns="45720" rIns="91440" bIns="45720" rtlCol="0" anchor="t">
            <a:normAutofit/>
          </a:bodyPr>
          <a:lstStyle/>
          <a:p>
            <a:pPr indent="-228600">
              <a:buFont typeface="Arial" panose="020B0604020202020204" pitchFamily="34" charset="0"/>
              <a:buChar char="•"/>
            </a:pPr>
            <a:r>
              <a:rPr lang="en-US" sz="1800" dirty="0">
                <a:solidFill>
                  <a:schemeClr val="tx2"/>
                </a:solidFill>
              </a:rPr>
              <a:t>The Track Page.</a:t>
            </a:r>
          </a:p>
          <a:p>
            <a:pPr indent="-228600">
              <a:buFont typeface="Arial" panose="020B0604020202020204" pitchFamily="34" charset="0"/>
              <a:buChar char="•"/>
            </a:pPr>
            <a:r>
              <a:rPr lang="en-US" sz="1800" dirty="0">
                <a:solidFill>
                  <a:schemeClr val="tx2"/>
                </a:solidFill>
              </a:rPr>
              <a:t>This is the page that provides the lecturer with the details on the status of the claim. Whether it is verified, rejected or still pending. Providing them with transparency and reassurance. </a:t>
            </a: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screenshot of a computer&#10;&#10;AI-generated content may be incorrect.">
            <a:extLst>
              <a:ext uri="{FF2B5EF4-FFF2-40B4-BE49-F238E27FC236}">
                <a16:creationId xmlns:a16="http://schemas.microsoft.com/office/drawing/2014/main" id="{11E8A6A5-8D82-01C5-86D8-6F8D3A4485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765" y="2421684"/>
            <a:ext cx="5115859" cy="2468402"/>
          </a:xfrm>
          <a:prstGeom prst="rect">
            <a:avLst/>
          </a:prstGeom>
        </p:spPr>
      </p:pic>
    </p:spTree>
    <p:extLst>
      <p:ext uri="{BB962C8B-B14F-4D97-AF65-F5344CB8AC3E}">
        <p14:creationId xmlns:p14="http://schemas.microsoft.com/office/powerpoint/2010/main" val="583249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285</Words>
  <Application>Microsoft Office PowerPoint</Application>
  <PresentationFormat>Widescreen</PresentationFormat>
  <Paragraphs>20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ST10032544</vt:lpstr>
      <vt:lpstr>Contract Monthly Claim System</vt:lpstr>
      <vt:lpstr>Contents</vt:lpstr>
      <vt:lpstr>Submit Page</vt:lpstr>
      <vt:lpstr>Approve and Reject Page</vt:lpstr>
      <vt:lpstr>Verify Page</vt:lpstr>
      <vt:lpstr>Track Page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Dwayne Prins</dc:creator>
  <cp:lastModifiedBy>Dwayne Prins</cp:lastModifiedBy>
  <cp:revision>2</cp:revision>
  <dcterms:created xsi:type="dcterms:W3CDTF">2025-11-21T22:00:27Z</dcterms:created>
  <dcterms:modified xsi:type="dcterms:W3CDTF">2026-01-12T08:33:09Z</dcterms:modified>
</cp:coreProperties>
</file>